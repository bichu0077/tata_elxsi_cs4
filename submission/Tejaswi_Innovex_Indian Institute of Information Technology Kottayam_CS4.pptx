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4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i="0" dirty="0">
                <a:solidFill>
                  <a:srgbClr val="0B2545"/>
                </a:solidFill>
                <a:latin typeface="Calibri"/>
                <a:cs typeface="Calibri"/>
              </a:rPr>
              <a:t>Team Innovex</a:t>
            </a:r>
          </a:p>
          <a:p>
            <a:pPr marL="0" indent="0" algn="ctr">
              <a:buNone/>
            </a:pPr>
            <a:r>
              <a:rPr lang="en-US" sz="1400" b="0" i="0" dirty="0">
                <a:solidFill>
                  <a:srgbClr val="0B2545"/>
                </a:solidFill>
                <a:latin typeface="Calibri"/>
                <a:cs typeface="Calibri"/>
              </a:rPr>
              <a:t>Tejaswi Jaddu (Team Leader) · Bichu Devnarayan</a:t>
            </a:r>
          </a:p>
          <a:p>
            <a:pPr marL="0" indent="0" algn="ctr">
              <a:buNone/>
            </a:pPr>
            <a:r>
              <a:rPr lang="en-US" sz="1400" b="0" i="0" dirty="0">
                <a:solidFill>
                  <a:srgbClr val="0B2545"/>
                </a:solidFill>
                <a:latin typeface="Calibri"/>
                <a:cs typeface="Calibri"/>
              </a:rPr>
              <a:t>Indian Institute of Information Technology Kottayam</a:t>
            </a:r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822960"/>
            <a:ext cx="11457432" cy="457200"/>
          </a:xfrm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0077B6"/>
                </a:solidFill>
                <a:latin typeface="Calibri"/>
                <a:cs typeface="Calibri"/>
              </a:rPr>
              <a:t>ClauseLink</a:t>
            </a:r>
            <a:r>
              <a:rPr lang="en-US" sz="1600" b="0" i="0" dirty="0">
                <a:solidFill>
                  <a:srgbClr val="0B2545"/>
                </a:solidFill>
                <a:latin typeface="Calibri"/>
                <a:cs typeface="Calibri"/>
              </a:rPr>
              <a:t>: every label element traced to the clause that requires it</a:t>
            </a:r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101" name="Header The problem"/>
          <p:cNvSpPr txBox="1"/>
          <p:nvPr/>
        </p:nvSpPr>
        <p:spPr>
          <a:xfrm>
            <a:off x="365760" y="137160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077B6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102" name="Header Architecture: the graph is the system of record"/>
          <p:cNvSpPr txBox="1"/>
          <p:nvPr/>
        </p:nvSpPr>
        <p:spPr>
          <a:xfrm>
            <a:off x="3657600" y="137160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077B6"/>
                </a:solidFill>
                <a:latin typeface="Calibri"/>
                <a:cs typeface="Calibri"/>
              </a:rPr>
              <a:t>Architecture: the graph is the system of record</a:t>
            </a:r>
          </a:p>
        </p:txBody>
      </p:sp>
      <p:sp>
        <p:nvSpPr>
          <p:cNvPr id="103" name="Header Coverage of the 10 pain points (p.5)"/>
          <p:cNvSpPr txBox="1"/>
          <p:nvPr/>
        </p:nvSpPr>
        <p:spPr>
          <a:xfrm>
            <a:off x="8321040" y="1371600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077B6"/>
                </a:solidFill>
                <a:latin typeface="Calibri"/>
                <a:cs typeface="Calibri"/>
              </a:rPr>
              <a:t>Coverage of the 10 pain points (p.5)</a:t>
            </a:r>
          </a:p>
        </p:txBody>
      </p:sp>
      <p:sp>
        <p:nvSpPr>
          <p:cNvPr id="104" name="Scale"/>
          <p:cNvSpPr txBox="1"/>
          <p:nvPr/>
        </p:nvSpPr>
        <p:spPr>
          <a:xfrm>
            <a:off x="365760" y="1691640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A single product change may require updates to </a:t>
            </a: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30+ labels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 and </a:t>
            </a: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20+ languages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 (p.4).</a:t>
            </a:r>
          </a:p>
        </p:txBody>
      </p:sp>
      <p:sp>
        <p:nvSpPr>
          <p:cNvPr id="105" name="Error causes"/>
          <p:cNvSpPr txBox="1"/>
          <p:nvPr/>
        </p:nvSpPr>
        <p:spPr>
          <a:xfrm>
            <a:off x="365760" y="2066544"/>
            <a:ext cx="3154680" cy="1389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Causes of human error named in the case study (p.4):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Manual data entry and copying between ERP, PLM, labelling software and regulatory databases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Requirements that keep changing: UDI updates, new symbols, MDR changes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Reviewers comparing old versions, new versions and regulatory documents by hand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Translation inconsistencies; visual inspection that depends on people</a:t>
            </a:r>
          </a:p>
        </p:txBody>
      </p:sp>
      <p:sp>
        <p:nvSpPr>
          <p:cNvPr id="106" name="Recall card"/>
          <p:cNvSpPr txBox="1"/>
          <p:nvPr/>
        </p:nvSpPr>
        <p:spPr>
          <a:xfrm>
            <a:off x="365760" y="3511296"/>
            <a:ext cx="3154680" cy="1563624"/>
          </a:xfrm>
          <a:prstGeom prst="roundRect">
            <a:avLst>
              <a:gd name="adj" fmla="val 6000"/>
            </a:avLst>
          </a:prstGeom>
          <a:solidFill>
            <a:srgbClr val="F1F7FB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07" name="Recall title"/>
          <p:cNvSpPr txBox="1"/>
          <p:nvPr/>
        </p:nvSpPr>
        <p:spPr>
          <a:xfrm>
            <a:off x="457200" y="355701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FDA device recall records with a labeling root cause</a:t>
            </a:r>
          </a:p>
        </p:txBody>
      </p:sp>
      <p:sp>
        <p:nvSpPr>
          <p:cNvPr id="108" name="Recall stat 0"/>
          <p:cNvSpPr txBox="1"/>
          <p:nvPr/>
        </p:nvSpPr>
        <p:spPr>
          <a:xfrm>
            <a:off x="457200" y="37947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077B6"/>
                </a:solidFill>
                <a:latin typeface="Calibri"/>
                <a:cs typeface="Calibri"/>
              </a:rPr>
              <a:t>5.59%</a:t>
            </a:r>
          </a:p>
        </p:txBody>
      </p:sp>
      <p:sp>
        <p:nvSpPr>
          <p:cNvPr id="109" name="Recall label 0"/>
          <p:cNvSpPr txBox="1"/>
          <p:nvPr/>
        </p:nvSpPr>
        <p:spPr>
          <a:xfrm>
            <a:off x="1371600" y="3794760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of 59,481 records, all years</a:t>
            </a:r>
          </a:p>
        </p:txBody>
      </p:sp>
      <p:sp>
        <p:nvSpPr>
          <p:cNvPr id="110" name="Recall stat 1"/>
          <p:cNvSpPr txBox="1"/>
          <p:nvPr/>
        </p:nvSpPr>
        <p:spPr>
          <a:xfrm>
            <a:off x="457200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077B6"/>
                </a:solidFill>
                <a:latin typeface="Calibri"/>
                <a:cs typeface="Calibri"/>
              </a:rPr>
              <a:t>3.95%</a:t>
            </a:r>
          </a:p>
        </p:txBody>
      </p:sp>
      <p:sp>
        <p:nvSpPr>
          <p:cNvPr id="111" name="Recall label 1"/>
          <p:cNvSpPr txBox="1"/>
          <p:nvPr/>
        </p:nvSpPr>
        <p:spPr>
          <a:xfrm>
            <a:off x="1371600" y="4023360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of 10,299 records, 2021 to 2025</a:t>
            </a:r>
          </a:p>
        </p:txBody>
      </p:sp>
      <p:sp>
        <p:nvSpPr>
          <p:cNvPr id="112" name="Recall stat 2"/>
          <p:cNvSpPr txBox="1"/>
          <p:nvPr/>
        </p:nvSpPr>
        <p:spPr>
          <a:xfrm>
            <a:off x="457200" y="4251960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077B6"/>
                </a:solidFill>
                <a:latin typeface="Calibri"/>
                <a:cs typeface="Calibri"/>
              </a:rPr>
              <a:t>135 of 407</a:t>
            </a:r>
          </a:p>
        </p:txBody>
      </p:sp>
      <p:sp>
        <p:nvSpPr>
          <p:cNvPr id="113" name="Recall label 2"/>
          <p:cNvSpPr txBox="1"/>
          <p:nvPr/>
        </p:nvSpPr>
        <p:spPr>
          <a:xfrm>
            <a:off x="1371600" y="4251960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2021 to 2025 labeling records cite "Labeling Change Control"</a:t>
            </a:r>
          </a:p>
        </p:txBody>
      </p:sp>
      <p:sp>
        <p:nvSpPr>
          <p:cNvPr id="114" name="Recall source"/>
          <p:cNvSpPr txBox="1"/>
          <p:nvPr/>
        </p:nvSpPr>
        <p:spPr>
          <a:xfrm>
            <a:off x="457200" y="4608576"/>
            <a:ext cx="297180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Source: openFDA device recall API, five labeling root-cause categories, data as of 2026-10-15. Records are per product; openFDA says to treat them as unvalidated.</a:t>
            </a:r>
          </a:p>
        </p:txBody>
      </p:sp>
      <p:sp>
        <p:nvSpPr>
          <p:cNvPr id="115" name="Inputs"/>
          <p:cNvSpPr txBox="1"/>
          <p:nvPr/>
        </p:nvSpPr>
        <p:spPr>
          <a:xfrm>
            <a:off x="3657600" y="1691640"/>
            <a:ext cx="4526280" cy="256032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Inputs: </a:t>
            </a:r>
            <a:r>
              <a:rPr lang="en-US" sz="1000" b="0" i="0" dirty="0">
                <a:solidFill>
                  <a:srgbClr val="FFFFFF"/>
                </a:solidFill>
                <a:latin typeface="Calibri"/>
                <a:cs typeface="Calibri"/>
              </a:rPr>
              <a:t>PLM and ERP data, regulatory sources, existing approved labels</a:t>
            </a:r>
          </a:p>
        </p:txBody>
      </p:sp>
      <p:sp>
        <p:nvSpPr>
          <p:cNvPr id="116" name="Graph"/>
          <p:cNvSpPr txBox="1"/>
          <p:nvPr/>
        </p:nvSpPr>
        <p:spPr>
          <a:xfrm>
            <a:off x="5093208" y="2075688"/>
            <a:ext cx="1655064" cy="1938528"/>
          </a:xfrm>
          <a:prstGeom prst="roundRect">
            <a:avLst>
              <a:gd name="adj" fmla="val 8000"/>
            </a:avLst>
          </a:prstGeom>
          <a:solidFill>
            <a:srgbClr val="D9EEF9"/>
          </a:solidFill>
          <a:ln w="19050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17" name="Graph title"/>
          <p:cNvSpPr txBox="1"/>
          <p:nvPr/>
        </p:nvSpPr>
        <p:spPr>
          <a:xfrm>
            <a:off x="5093208" y="2121408"/>
            <a:ext cx="1655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0B2545"/>
                </a:solidFill>
                <a:latin typeface="Calibri"/>
                <a:cs typeface="Calibri"/>
              </a:rPr>
              <a:t>M0 Knowledge graph</a:t>
            </a:r>
          </a:p>
        </p:txBody>
      </p:sp>
      <p:sp>
        <p:nvSpPr>
          <p:cNvPr id="118" name="Chain spine"/>
          <p:cNvSpPr txBox="1"/>
          <p:nvPr/>
        </p:nvSpPr>
        <p:spPr>
          <a:xfrm>
            <a:off x="5907024" y="2496312"/>
            <a:ext cx="27432" cy="131673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19" name="Chain Requirement"/>
          <p:cNvSpPr txBox="1"/>
          <p:nvPr/>
        </p:nvSpPr>
        <p:spPr>
          <a:xfrm>
            <a:off x="5166360" y="2350008"/>
            <a:ext cx="1508760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Requirement</a:t>
            </a:r>
          </a:p>
          <a:p>
            <a:pPr marL="0" indent="0" algn="ctr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the clause that requires it</a:t>
            </a:r>
          </a:p>
        </p:txBody>
      </p:sp>
      <p:sp>
        <p:nvSpPr>
          <p:cNvPr id="120" name="Chain Label element"/>
          <p:cNvSpPr txBox="1"/>
          <p:nvPr/>
        </p:nvSpPr>
        <p:spPr>
          <a:xfrm>
            <a:off x="5166360" y="2679192"/>
            <a:ext cx="1508760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Label element</a:t>
            </a:r>
          </a:p>
          <a:p>
            <a:pPr marL="0" indent="0" algn="ctr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LOT, UDI, warning, symbol</a:t>
            </a:r>
          </a:p>
        </p:txBody>
      </p:sp>
      <p:sp>
        <p:nvSpPr>
          <p:cNvPr id="121" name="Chain Source data"/>
          <p:cNvSpPr txBox="1"/>
          <p:nvPr/>
        </p:nvSpPr>
        <p:spPr>
          <a:xfrm>
            <a:off x="5166360" y="3008376"/>
            <a:ext cx="1508760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Source data</a:t>
            </a:r>
          </a:p>
          <a:p>
            <a:pPr marL="0" indent="0" algn="ctr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PLM or ERP attribute</a:t>
            </a:r>
          </a:p>
        </p:txBody>
      </p:sp>
      <p:sp>
        <p:nvSpPr>
          <p:cNvPr id="122" name="Chain Artwork"/>
          <p:cNvSpPr txBox="1"/>
          <p:nvPr/>
        </p:nvSpPr>
        <p:spPr>
          <a:xfrm>
            <a:off x="5166360" y="3337560"/>
            <a:ext cx="1508760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Artwork</a:t>
            </a:r>
          </a:p>
          <a:p>
            <a:pPr marL="0" indent="0" algn="ctr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market, language, level</a:t>
            </a:r>
          </a:p>
        </p:txBody>
      </p:sp>
      <p:sp>
        <p:nvSpPr>
          <p:cNvPr id="123" name="Chain Approval"/>
          <p:cNvSpPr txBox="1"/>
          <p:nvPr/>
        </p:nvSpPr>
        <p:spPr>
          <a:xfrm>
            <a:off x="5166360" y="3666744"/>
            <a:ext cx="1508760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Approval</a:t>
            </a:r>
          </a:p>
          <a:p>
            <a:pPr marL="0" indent="0" algn="ctr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change order, e-signature</a:t>
            </a:r>
          </a:p>
        </p:txBody>
      </p:sp>
      <p:cxnSp>
        <p:nvCxnSpPr>
          <p:cNvPr id="124" name="Inputs to graph"/>
          <p:cNvCxnSpPr/>
          <p:nvPr/>
        </p:nvCxnSpPr>
        <p:spPr>
          <a:xfrm>
            <a:off x="5920740" y="1956816"/>
            <a:ext cx="0" cy="109728"/>
          </a:xfrm>
          <a:prstGeom prst="straightConnector1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sp>
        <p:nvSpPr>
          <p:cNvPr id="125" name="Module M2"/>
          <p:cNvSpPr txBox="1"/>
          <p:nvPr/>
        </p:nvSpPr>
        <p:spPr>
          <a:xfrm>
            <a:off x="3657600" y="2075688"/>
            <a:ext cx="1325880" cy="9189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7B6"/>
            </a:solidFill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M2 </a:t>
            </a: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Regulatory intelligence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Cited rule changes; RA approves them.</a:t>
            </a:r>
          </a:p>
        </p:txBody>
      </p:sp>
      <p:sp>
        <p:nvSpPr>
          <p:cNvPr id="126" name="Module M5"/>
          <p:cNvSpPr txBox="1"/>
          <p:nvPr/>
        </p:nvSpPr>
        <p:spPr>
          <a:xfrm>
            <a:off x="3657600" y="3095244"/>
            <a:ext cx="1325880" cy="9189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7B6"/>
            </a:solidFill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M5 </a:t>
            </a: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Authoring and translation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Approved phrases only; new text is a draft.</a:t>
            </a:r>
          </a:p>
        </p:txBody>
      </p:sp>
      <p:sp>
        <p:nvSpPr>
          <p:cNvPr id="127" name="Module M1"/>
          <p:cNvSpPr txBox="1"/>
          <p:nvPr/>
        </p:nvSpPr>
        <p:spPr>
          <a:xfrm>
            <a:off x="6858000" y="2075688"/>
            <a:ext cx="1325880" cy="9189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7B6"/>
            </a:solidFill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M1 </a:t>
            </a: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Change-impact engine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One query to every affected label.</a:t>
            </a:r>
          </a:p>
        </p:txBody>
      </p:sp>
      <p:sp>
        <p:nvSpPr>
          <p:cNvPr id="128" name="Module M6"/>
          <p:cNvSpPr txBox="1"/>
          <p:nvPr/>
        </p:nvSpPr>
        <p:spPr>
          <a:xfrm>
            <a:off x="6858000" y="3095244"/>
            <a:ext cx="1325880" cy="9189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7B6"/>
            </a:solidFill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M6 </a:t>
            </a: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UDI-DI change detector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MDR Annex VI 3.9 triggers; US cases go to RA.</a:t>
            </a:r>
          </a:p>
        </p:txBody>
      </p:sp>
      <p:cxnSp>
        <p:nvCxnSpPr>
          <p:cNvPr id="129" name="Module link"/>
          <p:cNvCxnSpPr/>
          <p:nvPr/>
        </p:nvCxnSpPr>
        <p:spPr>
          <a:xfrm>
            <a:off x="5010912" y="2535174"/>
            <a:ext cx="54864" cy="0"/>
          </a:xfrm>
          <a:prstGeom prst="straightConnector1">
            <a:avLst/>
          </a:prstGeom>
          <a:ln w="19050">
            <a:solidFill>
              <a:srgbClr val="0077B6"/>
            </a:solidFill>
            <a:tailEnd type="triangle" w="med" len="med"/>
          </a:ln>
        </p:spPr>
      </p:cxnSp>
      <p:cxnSp>
        <p:nvCxnSpPr>
          <p:cNvPr id="130" name="Module link"/>
          <p:cNvCxnSpPr/>
          <p:nvPr/>
        </p:nvCxnSpPr>
        <p:spPr>
          <a:xfrm>
            <a:off x="5010912" y="3554730"/>
            <a:ext cx="54864" cy="0"/>
          </a:xfrm>
          <a:prstGeom prst="straightConnector1">
            <a:avLst/>
          </a:prstGeom>
          <a:ln w="19050">
            <a:solidFill>
              <a:srgbClr val="0077B6"/>
            </a:solidFill>
            <a:tailEnd type="triangle" w="med" len="med"/>
          </a:ln>
        </p:spPr>
      </p:cxnSp>
      <p:cxnSp>
        <p:nvCxnSpPr>
          <p:cNvPr id="131" name="Module link"/>
          <p:cNvCxnSpPr/>
          <p:nvPr/>
        </p:nvCxnSpPr>
        <p:spPr>
          <a:xfrm>
            <a:off x="6775704" y="2535174"/>
            <a:ext cx="54864" cy="0"/>
          </a:xfrm>
          <a:prstGeom prst="straightConnector1">
            <a:avLst/>
          </a:prstGeom>
          <a:ln w="19050">
            <a:solidFill>
              <a:srgbClr val="0077B6"/>
            </a:solidFill>
            <a:tailEnd type="triangle" w="med" len="med"/>
          </a:ln>
        </p:spPr>
      </p:cxnSp>
      <p:cxnSp>
        <p:nvCxnSpPr>
          <p:cNvPr id="132" name="Module link"/>
          <p:cNvCxnSpPr/>
          <p:nvPr/>
        </p:nvCxnSpPr>
        <p:spPr>
          <a:xfrm>
            <a:off x="6775704" y="3554730"/>
            <a:ext cx="54864" cy="0"/>
          </a:xfrm>
          <a:prstGeom prst="straightConnector1">
            <a:avLst/>
          </a:prstGeom>
          <a:ln w="19050">
            <a:solidFill>
              <a:srgbClr val="0077B6"/>
            </a:solidFill>
            <a:tailEnd type="triangle" w="med" len="med"/>
          </a:ln>
        </p:spPr>
      </p:cxnSp>
      <p:sp>
        <p:nvSpPr>
          <p:cNvPr id="133" name="Module M3"/>
          <p:cNvSpPr txBox="1"/>
          <p:nvPr/>
        </p:nvSpPr>
        <p:spPr>
          <a:xfrm>
            <a:off x="3657600" y="4114800"/>
            <a:ext cx="139903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7B6"/>
            </a:solidFill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M3 </a:t>
            </a: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Compliance checker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Rules decide; LLM notes are flagged.</a:t>
            </a:r>
          </a:p>
        </p:txBody>
      </p:sp>
      <p:sp>
        <p:nvSpPr>
          <p:cNvPr id="134" name="Module M4"/>
          <p:cNvSpPr txBox="1"/>
          <p:nvPr/>
        </p:nvSpPr>
        <p:spPr>
          <a:xfrm>
            <a:off x="5221224" y="4114800"/>
            <a:ext cx="139903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7B6"/>
            </a:solidFill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M4 </a:t>
            </a: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CV verification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Printed UDI vs DataMatrix, symbols.</a:t>
            </a:r>
          </a:p>
        </p:txBody>
      </p:sp>
      <p:sp>
        <p:nvSpPr>
          <p:cNvPr id="135" name="Gate"/>
          <p:cNvSpPr txBox="1"/>
          <p:nvPr/>
        </p:nvSpPr>
        <p:spPr>
          <a:xfrm>
            <a:off x="6784848" y="4114800"/>
            <a:ext cx="1399032" cy="694944"/>
          </a:xfrm>
          <a:prstGeom prst="roundRect">
            <a:avLst>
              <a:gd name="adj" fmla="val 10000"/>
            </a:avLst>
          </a:prstGeom>
          <a:solidFill>
            <a:srgbClr val="E07A00"/>
          </a:solidFill>
          <a:ln>
            <a:noFill/>
          </a:ln>
        </p:spPr>
        <p:txBody>
          <a:bodyPr wrap="square" lIns="64008" tIns="36576" rIns="45720" bIns="27432" rtlCol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>Human e-signature gate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FFFFFF"/>
                </a:solidFill>
                <a:latin typeface="Calibri"/>
                <a:cs typeface="Calibri"/>
              </a:rPr>
              <a:t>RA and QA sign; AI never approves.</a:t>
            </a:r>
          </a:p>
        </p:txBody>
      </p:sp>
      <p:cxnSp>
        <p:nvCxnSpPr>
          <p:cNvPr id="136" name="Graph to checks"/>
          <p:cNvCxnSpPr/>
          <p:nvPr/>
        </p:nvCxnSpPr>
        <p:spPr>
          <a:xfrm>
            <a:off x="5920740" y="4023360"/>
            <a:ext cx="0" cy="82296"/>
          </a:xfrm>
          <a:prstGeom prst="straightConnector1">
            <a:avLst/>
          </a:prstGeom>
          <a:ln w="19050">
            <a:solidFill>
              <a:srgbClr val="0077B6"/>
            </a:solidFill>
            <a:tailEnd type="triangle" w="med" len="med"/>
          </a:ln>
        </p:spPr>
      </p:cxnSp>
      <p:cxnSp>
        <p:nvCxnSpPr>
          <p:cNvPr id="137" name="Check to verify"/>
          <p:cNvCxnSpPr/>
          <p:nvPr/>
        </p:nvCxnSpPr>
        <p:spPr>
          <a:xfrm>
            <a:off x="5074920" y="4462272"/>
            <a:ext cx="128016" cy="0"/>
          </a:xfrm>
          <a:prstGeom prst="straightConnector1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cxnSp>
        <p:nvCxnSpPr>
          <p:cNvPr id="138" name="Verify to gate"/>
          <p:cNvCxnSpPr/>
          <p:nvPr/>
        </p:nvCxnSpPr>
        <p:spPr>
          <a:xfrm>
            <a:off x="6638544" y="4462272"/>
            <a:ext cx="128016" cy="0"/>
          </a:xfrm>
          <a:prstGeom prst="straightConnector1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sp>
        <p:nvSpPr>
          <p:cNvPr id="139" name="Release"/>
          <p:cNvSpPr txBox="1"/>
          <p:nvPr/>
        </p:nvSpPr>
        <p:spPr>
          <a:xfrm>
            <a:off x="3657600" y="4905756"/>
            <a:ext cx="4526280" cy="228600"/>
          </a:xfrm>
          <a:prstGeom prst="roundRect">
            <a:avLst>
              <a:gd name="adj" fmla="val 30000"/>
            </a:avLst>
          </a:prstGeom>
          <a:solidFill>
            <a:srgbClr val="F1F7FB"/>
          </a:solidFill>
          <a:ln w="9525">
            <a:solidFill>
              <a:srgbClr val="C9D6E2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Release: 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signed version, change order and audit trail written back to the graph</a:t>
            </a:r>
          </a:p>
        </p:txBody>
      </p:sp>
      <p:sp>
        <p:nvSpPr>
          <p:cNvPr id="140" name="Grid header"/>
          <p:cNvSpPr txBox="1"/>
          <p:nvPr/>
        </p:nvSpPr>
        <p:spPr>
          <a:xfrm>
            <a:off x="8321040" y="1691640"/>
            <a:ext cx="3502152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Pain point</a:t>
            </a:r>
          </a:p>
        </p:txBody>
      </p:sp>
      <p:sp>
        <p:nvSpPr>
          <p:cNvPr id="141" name="Grid col M0"/>
          <p:cNvSpPr txBox="1"/>
          <p:nvPr/>
        </p:nvSpPr>
        <p:spPr>
          <a:xfrm>
            <a:off x="10067544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M0</a:t>
            </a:r>
          </a:p>
        </p:txBody>
      </p:sp>
      <p:sp>
        <p:nvSpPr>
          <p:cNvPr id="142" name="Grid col M1"/>
          <p:cNvSpPr txBox="1"/>
          <p:nvPr/>
        </p:nvSpPr>
        <p:spPr>
          <a:xfrm>
            <a:off x="10287000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M1</a:t>
            </a:r>
          </a:p>
        </p:txBody>
      </p:sp>
      <p:sp>
        <p:nvSpPr>
          <p:cNvPr id="143" name="Grid col M2"/>
          <p:cNvSpPr txBox="1"/>
          <p:nvPr/>
        </p:nvSpPr>
        <p:spPr>
          <a:xfrm>
            <a:off x="10506456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M2</a:t>
            </a:r>
          </a:p>
        </p:txBody>
      </p:sp>
      <p:sp>
        <p:nvSpPr>
          <p:cNvPr id="144" name="Grid col M3"/>
          <p:cNvSpPr txBox="1"/>
          <p:nvPr/>
        </p:nvSpPr>
        <p:spPr>
          <a:xfrm>
            <a:off x="10725912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M3</a:t>
            </a:r>
          </a:p>
        </p:txBody>
      </p:sp>
      <p:sp>
        <p:nvSpPr>
          <p:cNvPr id="145" name="Grid col M4"/>
          <p:cNvSpPr txBox="1"/>
          <p:nvPr/>
        </p:nvSpPr>
        <p:spPr>
          <a:xfrm>
            <a:off x="10945368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M4</a:t>
            </a:r>
          </a:p>
        </p:txBody>
      </p:sp>
      <p:sp>
        <p:nvSpPr>
          <p:cNvPr id="146" name="Grid col M5"/>
          <p:cNvSpPr txBox="1"/>
          <p:nvPr/>
        </p:nvSpPr>
        <p:spPr>
          <a:xfrm>
            <a:off x="11164824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M5</a:t>
            </a:r>
          </a:p>
        </p:txBody>
      </p:sp>
      <p:sp>
        <p:nvSpPr>
          <p:cNvPr id="147" name="Grid col M6"/>
          <p:cNvSpPr txBox="1"/>
          <p:nvPr/>
        </p:nvSpPr>
        <p:spPr>
          <a:xfrm>
            <a:off x="11384280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M6</a:t>
            </a:r>
          </a:p>
        </p:txBody>
      </p:sp>
      <p:sp>
        <p:nvSpPr>
          <p:cNvPr id="148" name="Grid col WF"/>
          <p:cNvSpPr txBox="1"/>
          <p:nvPr/>
        </p:nvSpPr>
        <p:spPr>
          <a:xfrm>
            <a:off x="11603736" y="1691640"/>
            <a:ext cx="2194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Calibri"/>
                <a:cs typeface="Calibri"/>
              </a:rPr>
              <a:t>WF</a:t>
            </a:r>
          </a:p>
        </p:txBody>
      </p:sp>
      <p:sp>
        <p:nvSpPr>
          <p:cNvPr id="149" name="Grid row 1"/>
          <p:cNvSpPr txBox="1"/>
          <p:nvPr/>
        </p:nvSpPr>
        <p:spPr>
          <a:xfrm>
            <a:off x="8321040" y="1929384"/>
            <a:ext cx="35021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1. Time-Consuming Manual Process</a:t>
            </a:r>
          </a:p>
        </p:txBody>
      </p:sp>
      <p:sp>
        <p:nvSpPr>
          <p:cNvPr id="150" name="Grid divider"/>
          <p:cNvSpPr txBox="1"/>
          <p:nvPr/>
        </p:nvSpPr>
        <p:spPr>
          <a:xfrm>
            <a:off x="10067544" y="1929384"/>
            <a:ext cx="4572" cy="329184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1" name="Dot 1 M0"/>
          <p:cNvSpPr txBox="1"/>
          <p:nvPr/>
        </p:nvSpPr>
        <p:spPr>
          <a:xfrm>
            <a:off x="10122408" y="2039112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2" name="Dot 1 M1"/>
          <p:cNvSpPr txBox="1"/>
          <p:nvPr/>
        </p:nvSpPr>
        <p:spPr>
          <a:xfrm>
            <a:off x="10341864" y="203911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3" name="Dot 1 M3"/>
          <p:cNvSpPr txBox="1"/>
          <p:nvPr/>
        </p:nvSpPr>
        <p:spPr>
          <a:xfrm>
            <a:off x="10780776" y="203911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4" name="Dot 1 M4"/>
          <p:cNvSpPr txBox="1"/>
          <p:nvPr/>
        </p:nvSpPr>
        <p:spPr>
          <a:xfrm>
            <a:off x="11000232" y="203911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5" name="Dot 1 M5"/>
          <p:cNvSpPr txBox="1"/>
          <p:nvPr/>
        </p:nvSpPr>
        <p:spPr>
          <a:xfrm>
            <a:off x="11219688" y="2039112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6" name="Dot 1 WF"/>
          <p:cNvSpPr txBox="1"/>
          <p:nvPr/>
        </p:nvSpPr>
        <p:spPr>
          <a:xfrm>
            <a:off x="11658600" y="2039112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7" name="Grid row 2"/>
          <p:cNvSpPr txBox="1"/>
          <p:nvPr/>
        </p:nvSpPr>
        <p:spPr>
          <a:xfrm>
            <a:off x="8321040" y="2258568"/>
            <a:ext cx="3502152" cy="329184"/>
          </a:xfrm>
          <a:prstGeom prst="rect">
            <a:avLst/>
          </a:prstGeom>
          <a:solidFill>
            <a:srgbClr val="F1F7FB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2. Frequent Regulatory Updates</a:t>
            </a:r>
          </a:p>
        </p:txBody>
      </p:sp>
      <p:sp>
        <p:nvSpPr>
          <p:cNvPr id="158" name="Grid divider"/>
          <p:cNvSpPr txBox="1"/>
          <p:nvPr/>
        </p:nvSpPr>
        <p:spPr>
          <a:xfrm>
            <a:off x="10067544" y="2258568"/>
            <a:ext cx="4572" cy="329184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59" name="Dot 2 M0"/>
          <p:cNvSpPr txBox="1"/>
          <p:nvPr/>
        </p:nvSpPr>
        <p:spPr>
          <a:xfrm>
            <a:off x="10122408" y="2368296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0" name="Dot 2 M1"/>
          <p:cNvSpPr txBox="1"/>
          <p:nvPr/>
        </p:nvSpPr>
        <p:spPr>
          <a:xfrm>
            <a:off x="10341864" y="2368296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1" name="Dot 2 M2"/>
          <p:cNvSpPr txBox="1"/>
          <p:nvPr/>
        </p:nvSpPr>
        <p:spPr>
          <a:xfrm>
            <a:off x="10561320" y="2368296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2" name="Grid row 3"/>
          <p:cNvSpPr txBox="1"/>
          <p:nvPr/>
        </p:nvSpPr>
        <p:spPr>
          <a:xfrm>
            <a:off x="8321040" y="2587752"/>
            <a:ext cx="35021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3. Symbol Management</a:t>
            </a:r>
          </a:p>
        </p:txBody>
      </p:sp>
      <p:sp>
        <p:nvSpPr>
          <p:cNvPr id="163" name="Grid divider"/>
          <p:cNvSpPr txBox="1"/>
          <p:nvPr/>
        </p:nvSpPr>
        <p:spPr>
          <a:xfrm>
            <a:off x="10067544" y="2587752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4" name="Dot 3 M0"/>
          <p:cNvSpPr txBox="1"/>
          <p:nvPr/>
        </p:nvSpPr>
        <p:spPr>
          <a:xfrm>
            <a:off x="10122408" y="265633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5" name="Dot 3 M1"/>
          <p:cNvSpPr txBox="1"/>
          <p:nvPr/>
        </p:nvSpPr>
        <p:spPr>
          <a:xfrm>
            <a:off x="10341864" y="2656332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6" name="Dot 3 M2"/>
          <p:cNvSpPr txBox="1"/>
          <p:nvPr/>
        </p:nvSpPr>
        <p:spPr>
          <a:xfrm>
            <a:off x="10561320" y="2656332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7" name="Dot 3 M3"/>
          <p:cNvSpPr txBox="1"/>
          <p:nvPr/>
        </p:nvSpPr>
        <p:spPr>
          <a:xfrm>
            <a:off x="10780776" y="265633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8" name="Dot 3 M4"/>
          <p:cNvSpPr txBox="1"/>
          <p:nvPr/>
        </p:nvSpPr>
        <p:spPr>
          <a:xfrm>
            <a:off x="11000232" y="265633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69" name="Grid row 4"/>
          <p:cNvSpPr txBox="1"/>
          <p:nvPr/>
        </p:nvSpPr>
        <p:spPr>
          <a:xfrm>
            <a:off x="8321040" y="2834640"/>
            <a:ext cx="3502152" cy="246888"/>
          </a:xfrm>
          <a:prstGeom prst="rect">
            <a:avLst/>
          </a:prstGeom>
          <a:solidFill>
            <a:srgbClr val="F1F7FB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4. Multiple Sources of Truth</a:t>
            </a:r>
          </a:p>
        </p:txBody>
      </p:sp>
      <p:sp>
        <p:nvSpPr>
          <p:cNvPr id="170" name="Grid divider"/>
          <p:cNvSpPr txBox="1"/>
          <p:nvPr/>
        </p:nvSpPr>
        <p:spPr>
          <a:xfrm>
            <a:off x="10067544" y="2834640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1" name="Dot 4 M0"/>
          <p:cNvSpPr txBox="1"/>
          <p:nvPr/>
        </p:nvSpPr>
        <p:spPr>
          <a:xfrm>
            <a:off x="10122408" y="2903220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2" name="Grid row 5"/>
          <p:cNvSpPr txBox="1"/>
          <p:nvPr/>
        </p:nvSpPr>
        <p:spPr>
          <a:xfrm>
            <a:off x="8321040" y="3081528"/>
            <a:ext cx="35021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5. Expertise Dependency</a:t>
            </a:r>
          </a:p>
        </p:txBody>
      </p:sp>
      <p:sp>
        <p:nvSpPr>
          <p:cNvPr id="173" name="Grid divider"/>
          <p:cNvSpPr txBox="1"/>
          <p:nvPr/>
        </p:nvSpPr>
        <p:spPr>
          <a:xfrm>
            <a:off x="10067544" y="3081528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4" name="Dot 5 M0"/>
          <p:cNvSpPr txBox="1"/>
          <p:nvPr/>
        </p:nvSpPr>
        <p:spPr>
          <a:xfrm>
            <a:off x="10122408" y="3150108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5" name="Dot 5 M2"/>
          <p:cNvSpPr txBox="1"/>
          <p:nvPr/>
        </p:nvSpPr>
        <p:spPr>
          <a:xfrm>
            <a:off x="10561320" y="31501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6" name="Dot 5 M3"/>
          <p:cNvSpPr txBox="1"/>
          <p:nvPr/>
        </p:nvSpPr>
        <p:spPr>
          <a:xfrm>
            <a:off x="10780776" y="3150108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7" name="Dot 5 M5"/>
          <p:cNvSpPr txBox="1"/>
          <p:nvPr/>
        </p:nvSpPr>
        <p:spPr>
          <a:xfrm>
            <a:off x="11219688" y="31501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8" name="Dot 5 M6"/>
          <p:cNvSpPr txBox="1"/>
          <p:nvPr/>
        </p:nvSpPr>
        <p:spPr>
          <a:xfrm>
            <a:off x="11439144" y="31501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79" name="Grid row 6"/>
          <p:cNvSpPr txBox="1"/>
          <p:nvPr/>
        </p:nvSpPr>
        <p:spPr>
          <a:xfrm>
            <a:off x="8321040" y="3328416"/>
            <a:ext cx="3502152" cy="246888"/>
          </a:xfrm>
          <a:prstGeom prst="rect">
            <a:avLst/>
          </a:prstGeom>
          <a:solidFill>
            <a:srgbClr val="F1F7FB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6. Manual Redlining</a:t>
            </a:r>
          </a:p>
        </p:txBody>
      </p:sp>
      <p:sp>
        <p:nvSpPr>
          <p:cNvPr id="180" name="Grid divider"/>
          <p:cNvSpPr txBox="1"/>
          <p:nvPr/>
        </p:nvSpPr>
        <p:spPr>
          <a:xfrm>
            <a:off x="10067544" y="3328416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1" name="Dot 6 M1"/>
          <p:cNvSpPr txBox="1"/>
          <p:nvPr/>
        </p:nvSpPr>
        <p:spPr>
          <a:xfrm>
            <a:off x="10341864" y="3396996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2" name="Dot 6 M4"/>
          <p:cNvSpPr txBox="1"/>
          <p:nvPr/>
        </p:nvSpPr>
        <p:spPr>
          <a:xfrm>
            <a:off x="11000232" y="3396996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3" name="Dot 6 M5"/>
          <p:cNvSpPr txBox="1"/>
          <p:nvPr/>
        </p:nvSpPr>
        <p:spPr>
          <a:xfrm>
            <a:off x="11219688" y="3396996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4" name="Grid row 7"/>
          <p:cNvSpPr txBox="1"/>
          <p:nvPr/>
        </p:nvSpPr>
        <p:spPr>
          <a:xfrm>
            <a:off x="8321040" y="3575304"/>
            <a:ext cx="35021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7. Repetitive Review</a:t>
            </a:r>
          </a:p>
        </p:txBody>
      </p:sp>
      <p:sp>
        <p:nvSpPr>
          <p:cNvPr id="185" name="Grid divider"/>
          <p:cNvSpPr txBox="1"/>
          <p:nvPr/>
        </p:nvSpPr>
        <p:spPr>
          <a:xfrm>
            <a:off x="10067544" y="3575304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6" name="Dot 7 M3"/>
          <p:cNvSpPr txBox="1"/>
          <p:nvPr/>
        </p:nvSpPr>
        <p:spPr>
          <a:xfrm>
            <a:off x="10780776" y="3643884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7" name="Dot 7 M4"/>
          <p:cNvSpPr txBox="1"/>
          <p:nvPr/>
        </p:nvSpPr>
        <p:spPr>
          <a:xfrm>
            <a:off x="11000232" y="3643884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8" name="Dot 7 WF"/>
          <p:cNvSpPr txBox="1"/>
          <p:nvPr/>
        </p:nvSpPr>
        <p:spPr>
          <a:xfrm>
            <a:off x="11658600" y="3643884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89" name="Grid row 8"/>
          <p:cNvSpPr txBox="1"/>
          <p:nvPr/>
        </p:nvSpPr>
        <p:spPr>
          <a:xfrm>
            <a:off x="8321040" y="3822192"/>
            <a:ext cx="3502152" cy="246888"/>
          </a:xfrm>
          <a:prstGeom prst="rect">
            <a:avLst/>
          </a:prstGeom>
          <a:solidFill>
            <a:srgbClr val="F1F7FB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8. Traceability</a:t>
            </a:r>
          </a:p>
        </p:txBody>
      </p:sp>
      <p:sp>
        <p:nvSpPr>
          <p:cNvPr id="190" name="Grid divider"/>
          <p:cNvSpPr txBox="1"/>
          <p:nvPr/>
        </p:nvSpPr>
        <p:spPr>
          <a:xfrm>
            <a:off x="10067544" y="3822192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1" name="Dot 8 M0"/>
          <p:cNvSpPr txBox="1"/>
          <p:nvPr/>
        </p:nvSpPr>
        <p:spPr>
          <a:xfrm>
            <a:off x="10122408" y="389077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2" name="Dot 8 M1"/>
          <p:cNvSpPr txBox="1"/>
          <p:nvPr/>
        </p:nvSpPr>
        <p:spPr>
          <a:xfrm>
            <a:off x="10341864" y="3890772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3" name="Dot 8 WF"/>
          <p:cNvSpPr txBox="1"/>
          <p:nvPr/>
        </p:nvSpPr>
        <p:spPr>
          <a:xfrm>
            <a:off x="11658600" y="3890772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4" name="Grid row 9"/>
          <p:cNvSpPr txBox="1"/>
          <p:nvPr/>
        </p:nvSpPr>
        <p:spPr>
          <a:xfrm>
            <a:off x="8321040" y="4069080"/>
            <a:ext cx="350215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9. Variant Explosion</a:t>
            </a:r>
          </a:p>
        </p:txBody>
      </p:sp>
      <p:sp>
        <p:nvSpPr>
          <p:cNvPr id="195" name="Grid divider"/>
          <p:cNvSpPr txBox="1"/>
          <p:nvPr/>
        </p:nvSpPr>
        <p:spPr>
          <a:xfrm>
            <a:off x="10067544" y="4069080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6" name="Dot 9 M0"/>
          <p:cNvSpPr txBox="1"/>
          <p:nvPr/>
        </p:nvSpPr>
        <p:spPr>
          <a:xfrm>
            <a:off x="10122408" y="4137660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7" name="Dot 9 M1"/>
          <p:cNvSpPr txBox="1"/>
          <p:nvPr/>
        </p:nvSpPr>
        <p:spPr>
          <a:xfrm>
            <a:off x="10341864" y="4137660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8" name="Dot 9 M5"/>
          <p:cNvSpPr txBox="1"/>
          <p:nvPr/>
        </p:nvSpPr>
        <p:spPr>
          <a:xfrm>
            <a:off x="11219688" y="4137660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199" name="Grid row 10"/>
          <p:cNvSpPr txBox="1"/>
          <p:nvPr/>
        </p:nvSpPr>
        <p:spPr>
          <a:xfrm>
            <a:off x="8321040" y="4315968"/>
            <a:ext cx="3502152" cy="246888"/>
          </a:xfrm>
          <a:prstGeom prst="rect">
            <a:avLst/>
          </a:prstGeom>
          <a:solidFill>
            <a:srgbClr val="F1F7FB"/>
          </a:solidFill>
          <a:ln w="6350">
            <a:solidFill>
              <a:srgbClr val="C9D6E2"/>
            </a:solidFill>
          </a:ln>
        </p:spPr>
        <p:txBody>
          <a:bodyPr wrap="square" lIns="45720" tIns="0" rIns="178308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10. Human Error</a:t>
            </a:r>
          </a:p>
        </p:txBody>
      </p:sp>
      <p:sp>
        <p:nvSpPr>
          <p:cNvPr id="200" name="Grid divider"/>
          <p:cNvSpPr txBox="1"/>
          <p:nvPr/>
        </p:nvSpPr>
        <p:spPr>
          <a:xfrm>
            <a:off x="10067544" y="4315968"/>
            <a:ext cx="4572" cy="246888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1" name="Dot 10 M0"/>
          <p:cNvSpPr txBox="1"/>
          <p:nvPr/>
        </p:nvSpPr>
        <p:spPr>
          <a:xfrm>
            <a:off x="10122408" y="438454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2" name="Dot 10 M3"/>
          <p:cNvSpPr txBox="1"/>
          <p:nvPr/>
        </p:nvSpPr>
        <p:spPr>
          <a:xfrm>
            <a:off x="10780776" y="4384548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3" name="Dot 10 M4"/>
          <p:cNvSpPr txBox="1"/>
          <p:nvPr/>
        </p:nvSpPr>
        <p:spPr>
          <a:xfrm>
            <a:off x="11000232" y="4384548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4" name="Dot 10 M5"/>
          <p:cNvSpPr txBox="1"/>
          <p:nvPr/>
        </p:nvSpPr>
        <p:spPr>
          <a:xfrm>
            <a:off x="11219688" y="4384548"/>
            <a:ext cx="109728" cy="109728"/>
          </a:xfrm>
          <a:prstGeom prst="ellipse">
            <a:avLst/>
          </a:prstGeom>
          <a:solidFill>
            <a:srgbClr val="0077B6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5" name="Dot 10 M6"/>
          <p:cNvSpPr txBox="1"/>
          <p:nvPr/>
        </p:nvSpPr>
        <p:spPr>
          <a:xfrm>
            <a:off x="11439144" y="438454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7B6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6" name="Coverage legend"/>
          <p:cNvSpPr txBox="1"/>
          <p:nvPr/>
        </p:nvSpPr>
        <p:spPr>
          <a:xfrm>
            <a:off x="8321040" y="4617720"/>
            <a:ext cx="350215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077B6"/>
                </a:solidFill>
                <a:latin typeface="Calibri"/>
                <a:cs typeface="Calibri"/>
              </a:rPr>
              <a:t>●</a:t>
            </a: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 primary   </a:t>
            </a:r>
            <a:r>
              <a:rPr lang="en-US" sz="1000" b="0" i="0" dirty="0">
                <a:solidFill>
                  <a:srgbClr val="0077B6"/>
                </a:solidFill>
                <a:latin typeface="Calibri"/>
                <a:cs typeface="Calibri"/>
              </a:rPr>
              <a:t>○</a:t>
            </a: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 supporting.  M0 graph, M1 to M6 modules, WF workflow with e-signature and audit trail. Every pain point has a primary module.</a:t>
            </a:r>
          </a:p>
        </p:txBody>
      </p:sp>
      <p:sp>
        <p:nvSpPr>
          <p:cNvPr id="207" name="Strip panel 0"/>
          <p:cNvSpPr txBox="1"/>
          <p:nvPr/>
        </p:nvSpPr>
        <p:spPr>
          <a:xfrm>
            <a:off x="365760" y="5230368"/>
            <a:ext cx="4343400" cy="1426464"/>
          </a:xfrm>
          <a:prstGeom prst="roundRect">
            <a:avLst>
              <a:gd name="adj" fmla="val 6000"/>
            </a:avLst>
          </a:prstGeom>
          <a:solidFill>
            <a:srgbClr val="F1F7FB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8" name="Strip panel 1"/>
          <p:cNvSpPr txBox="1"/>
          <p:nvPr/>
        </p:nvSpPr>
        <p:spPr>
          <a:xfrm>
            <a:off x="4846320" y="5230368"/>
            <a:ext cx="3246120" cy="1426464"/>
          </a:xfrm>
          <a:prstGeom prst="roundRect">
            <a:avLst>
              <a:gd name="adj" fmla="val 6000"/>
            </a:avLst>
          </a:prstGeom>
          <a:solidFill>
            <a:srgbClr val="F1F7FB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209" name="Strip panel 2"/>
          <p:cNvSpPr txBox="1"/>
          <p:nvPr/>
        </p:nvSpPr>
        <p:spPr>
          <a:xfrm>
            <a:off x="8229600" y="5230368"/>
            <a:ext cx="3593592" cy="1426464"/>
          </a:xfrm>
          <a:prstGeom prst="roundRect">
            <a:avLst>
              <a:gd name="adj" fmla="val 6000"/>
            </a:avLst>
          </a:prstGeom>
          <a:solidFill>
            <a:srgbClr val="F1F7FB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US" sz="1000" dirty="0"/>
          </a:p>
        </p:txBody>
      </p:sp>
      <p:pic>
        <p:nvPicPr>
          <p:cNvPr id="210" name="Prototype proof (synthetic)" descr="Prototype proof (synthetic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31536"/>
            <a:ext cx="2394765" cy="1024128"/>
          </a:xfrm>
          <a:prstGeom prst="rect">
            <a:avLst/>
          </a:prstGeom>
          <a:ln w="6350">
            <a:solidFill>
              <a:srgbClr val="C9D6E2"/>
            </a:solidFill>
          </a:ln>
        </p:spPr>
      </p:pic>
      <p:sp>
        <p:nvSpPr>
          <p:cNvPr id="211" name="Prototype caption"/>
          <p:cNvSpPr txBox="1"/>
          <p:nvPr/>
        </p:nvSpPr>
        <p:spPr>
          <a:xfrm>
            <a:off x="2943405" y="5321808"/>
            <a:ext cx="1692603" cy="1243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Prototype check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Synthetic test: 4/4 seeded defects caught, 0 false flags across 10 proofs; uncertain reads go to a human.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Shown: printed lot differs from the DataMatrix.</a:t>
            </a:r>
          </a:p>
        </p:txBody>
      </p:sp>
      <p:sp>
        <p:nvSpPr>
          <p:cNvPr id="212" name="Flow and effort"/>
          <p:cNvSpPr txBox="1"/>
          <p:nvPr/>
        </p:nvSpPr>
        <p:spPr>
          <a:xfrm>
            <a:off x="4974336" y="5321808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Process coverage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18-step flow plus a change trigger: 8 automated, 7 AI-assisted, 4 human (stakeholder review and 3 approvals).</a:t>
            </a:r>
          </a:p>
          <a:p>
            <a:pPr marL="0" indent="0" algn="l">
              <a:buNone/>
            </a:pPr>
            <a:r>
              <a:rPr lang="en-US" sz="1000" b="1" i="0" dirty="0">
                <a:solidFill>
                  <a:srgbClr val="E07A00"/>
                </a:solidFill>
                <a:latin typeface="Calibri"/>
                <a:cs typeface="Calibri"/>
              </a:rPr>
              <a:t>Estimate: 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42.9% to 88.1% less manual effort per change (48.5 to 225.5 h saved) for the 30-label, 20-language example. Assumptions in Annexure B.</a:t>
            </a:r>
          </a:p>
        </p:txBody>
      </p:sp>
      <p:sp>
        <p:nvSpPr>
          <p:cNvPr id="213" name="Guardrails"/>
          <p:cNvSpPr txBox="1"/>
          <p:nvPr/>
        </p:nvSpPr>
        <p:spPr>
          <a:xfrm>
            <a:off x="8357616" y="5321808"/>
            <a:ext cx="33375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b="1" i="0" dirty="0">
                <a:solidFill>
                  <a:srgbClr val="0B2545"/>
                </a:solidFill>
                <a:latin typeface="Calibri"/>
                <a:cs typeface="Calibri"/>
              </a:rPr>
              <a:t>Guardrails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AI never approves. 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RA and QA e-sign every release.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Part 11 audit trail: 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time-stamped record of every change (21 CFR 11.10(e)).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Risk-based review: 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full review for UDI, warnings and sterile data.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1" i="0" dirty="0">
                <a:solidFill>
                  <a:srgbClr val="0B2545"/>
                </a:solidFill>
                <a:latin typeface="Calibri"/>
                <a:cs typeface="Calibri"/>
              </a:rPr>
              <a:t>Validated </a:t>
            </a: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as quality-system software (QMSR / ISO 13485, FDA CSA 2026).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822960"/>
            <a:ext cx="11457432" cy="457200"/>
          </a:xfrm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0077B6"/>
                </a:solidFill>
                <a:latin typeface="Calibri"/>
                <a:cs typeface="Calibri"/>
              </a:rPr>
              <a:t>Annexure A</a:t>
            </a:r>
            <a:r>
              <a:rPr lang="en-US" sz="1600" b="0" i="0" dirty="0">
                <a:solidFill>
                  <a:srgbClr val="0B2545"/>
                </a:solidFill>
                <a:latin typeface="Calibri"/>
                <a:cs typeface="Calibri"/>
              </a:rPr>
              <a:t>: Supporting detail, process map today and with ClauseLink</a:t>
            </a:r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graphicFrame>
        <p:nvGraphicFramePr>
          <p:cNvPr id="101" name="Process map"/>
          <p:cNvGraphicFramePr>
            <a:graphicFrameLocks noGrp="1"/>
          </p:cNvGraphicFramePr>
          <p:nvPr/>
        </p:nvGraphicFramePr>
        <p:xfrm>
          <a:off x="365760" y="1371600"/>
          <a:ext cx="11457432" cy="4791460"/>
        </p:xfrm>
        <a:graphic>
          <a:graphicData uri="http://schemas.openxmlformats.org/drawingml/2006/table">
            <a:tbl>
              <a:tblPr firstRow="1" bandRow="1"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3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Today (case study, p.3)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 ClauseLink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Module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1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(new) Change trigger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PLM/ERP change, approved rule change or new market opens a change record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M0, M2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Product / Design Information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Connectors sync product attributes with source ID and version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Product Understanding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Attributes that drive requirements shown with their source; extracted values need owner confirmation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Identify Applicable Markets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Read from registration and ERP data; RA confirms any new market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Regulatory Requirement Assessment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Graph query returns the applicable clauses; new rules enter only after RA approval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M0, M2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Gap Assessment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Rule diff of required vs present elements, per label, market and level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Identify Labeling Gaps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Gap list with clause citations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Gap Addressal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Content proposed from the approved phrase library; the engineer accepts or edits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Content Development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assembled from graph elements, no copy and paste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Redline / Artwork Modification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Redline generated from the graph diff; layout changes proposed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M5, M4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Stakeholder Review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Risk-ranked packet: changed elements with clause, source and check results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5E35B1"/>
                          </a:solidFill>
                          <a:latin typeface="Calibri"/>
                          <a:cs typeface="Calibri"/>
                        </a:rPr>
                        <a:t>Human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Regulatory / Quality Approval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Part 11 e-signature; AI never approves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5E35B1"/>
                          </a:solidFill>
                          <a:latin typeface="Calibri"/>
                          <a:cs typeface="Calibri"/>
                        </a:rPr>
                        <a:t>Human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Revision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New version committed to the graph and linked to the approval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Change Order Creation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Drafted with the full impacted list; a person releases it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M1, 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Document / Configuration Control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The versioned graph is the configuration record, synced to PLM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Final Quality Check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CV checks the print proof; QA reviews every flag and signs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AI-assisted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M4, 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Release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E-signed release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5E35B1"/>
                          </a:solidFill>
                          <a:latin typeface="Calibri"/>
                          <a:cs typeface="Calibri"/>
                        </a:rPr>
                        <a:t>Human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Manufacturing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Released files go to the existing print system; CV checks samples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077B6"/>
                          </a:solidFill>
                          <a:latin typeface="Calibri"/>
                          <a:cs typeface="Calibri"/>
                        </a:rPr>
                        <a:t>Automated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Production Implementation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Line clearance and first-article sign-off with CV evidence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5E35B1"/>
                          </a:solidFill>
                          <a:latin typeface="Calibri"/>
                          <a:cs typeface="Calibri"/>
                        </a:rPr>
                        <a:t>Human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02" name="Process note"/>
          <p:cNvSpPr txBox="1"/>
          <p:nvPr/>
        </p:nvSpPr>
        <p:spPr>
          <a:xfrm>
            <a:off x="365760" y="6272784"/>
            <a:ext cx="11457432" cy="402336"/>
          </a:xfrm>
          <a:prstGeom prst="roundRect">
            <a:avLst>
              <a:gd name="adj" fmla="val 8000"/>
            </a:avLst>
          </a:prstGeom>
          <a:solidFill>
            <a:srgbClr val="F1F7FB"/>
          </a:solidFill>
          <a:ln>
            <a:noFill/>
          </a:ln>
        </p:spPr>
        <p:txBody>
          <a:bodyPr wrap="square" lIns="137160" tIns="36576" rIns="137160" bIns="36576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0077B6"/>
                </a:solidFill>
                <a:latin typeface="Calibri"/>
                <a:cs typeface="Calibri"/>
              </a:rPr>
              <a:t>Count: </a:t>
            </a:r>
            <a:r>
              <a:rPr lang="en-US" sz="1050" b="0" i="0" dirty="0">
                <a:solidFill>
                  <a:srgbClr val="0B2545"/>
                </a:solidFill>
                <a:latin typeface="Calibri"/>
                <a:cs typeface="Calibri"/>
              </a:rPr>
              <a:t>8 automated, 7 AI-assisted with a human check, 4 human, over the 18 steps plus the new change trigger. Steps 4 and 9 mix automated and AI-assisted work and are counted as AI-assisted. Stakeholder review and the three approvals (11, 16, 18) stay human.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822960"/>
            <a:ext cx="11457432" cy="457200"/>
          </a:xfrm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0077B6"/>
                </a:solidFill>
                <a:latin typeface="Calibri"/>
                <a:cs typeface="Calibri"/>
              </a:rPr>
              <a:t>Annexure B</a:t>
            </a:r>
            <a:r>
              <a:rPr lang="en-US" sz="1600" b="0" i="0" dirty="0">
                <a:solidFill>
                  <a:srgbClr val="0B2545"/>
                </a:solidFill>
                <a:latin typeface="Calibri"/>
                <a:cs typeface="Calibri"/>
              </a:rPr>
              <a:t>: Supporting detail, automation opportunity matrix and impact model</a:t>
            </a:r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graphicFrame>
        <p:nvGraphicFramePr>
          <p:cNvPr id="101" name="Automation opportunity matrix"/>
          <p:cNvGraphicFramePr>
            <a:graphicFrameLocks noGrp="1"/>
          </p:cNvGraphicFramePr>
          <p:nvPr/>
        </p:nvGraphicFramePr>
        <p:xfrm>
          <a:off x="365760" y="1371600"/>
          <a:ext cx="6217920" cy="4551887"/>
        </p:xfrm>
        <a:graphic>
          <a:graphicData uri="http://schemas.openxmlformats.org/drawingml/2006/table">
            <a:tbl>
              <a:tblPr firstRow="1" bandRow="1"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Step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 risk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Automation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Priority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Module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Product / Design Information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Product Understanding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Identify Applicable Markets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Regulatory Requirement Assessment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M0, M2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Gap Assessment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Identify Labeling Gaps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M1, M3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Gap Addressal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Content Development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Redline / Artwork Modification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M5, M4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Stakeholder Review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WF, M3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Regulatory / Quality Approval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Revision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Change Order Creation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Document / Configuration Control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Final Quality Check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Label Release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Manufacturing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Production Implementation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WF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02" name="AOM note"/>
          <p:cNvSpPr txBox="1"/>
          <p:nvPr/>
        </p:nvSpPr>
        <p:spPr>
          <a:xfrm>
            <a:off x="365760" y="6014923"/>
            <a:ext cx="6217920" cy="6601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Scores 1 (low) to 3 (high) are team estimates from the p.5 pain points, not measurements. Priority is the sum (maximum 9). Steps 5 and 15 score highest.</a:t>
            </a:r>
          </a:p>
        </p:txBody>
      </p:sp>
      <p:sp>
        <p:nvSpPr>
          <p:cNvPr id="103" name="Impact header"/>
          <p:cNvSpPr txBox="1"/>
          <p:nvPr/>
        </p:nvSpPr>
        <p:spPr>
          <a:xfrm>
            <a:off x="6812280" y="1371600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0077B6"/>
                </a:solidFill>
                <a:latin typeface="Calibri"/>
                <a:cs typeface="Calibri"/>
              </a:rPr>
              <a:t>Impact model: one change, 30 labels × 20 languages (estimate)</a:t>
            </a:r>
          </a:p>
        </p:txBody>
      </p:sp>
      <p:graphicFrame>
        <p:nvGraphicFramePr>
          <p:cNvPr id="104" name="Impact assumptions"/>
          <p:cNvGraphicFramePr>
            <a:graphicFrameLocks noGrp="1"/>
          </p:cNvGraphicFramePr>
          <p:nvPr/>
        </p:nvGraphicFramePr>
        <p:xfrm>
          <a:off x="6812280" y="1737360"/>
          <a:ext cx="5010912" cy="2395730"/>
        </p:xfrm>
        <a:graphic>
          <a:graphicData uri="http://schemas.openxmlformats.org/drawingml/2006/table">
            <a:tbl>
              <a:tblPr firstRow="1" bandRow="1"/>
              <a:tblGrid>
                <a:gridCol w="2542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Assumption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Pessimistic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Today: impact assessment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16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8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Today: redline per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Today: review per language block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5 min × 3 reviewers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 min × 2 reviewers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Today: final check per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0.5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ClauseLink: RA confirms impact list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0.5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ClauseLink: layout check per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0.25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0.5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ClauseLink: diff-only packet per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10 min × 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20 min × 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ClauseLink: flagged blocks reviewed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10% at 5 min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25% at 5 min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ClauseLink: QA review of CV evidence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0.25 h per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0.5 h per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5" name="Impact results"/>
          <p:cNvGraphicFramePr>
            <a:graphicFrameLocks noGrp="1"/>
          </p:cNvGraphicFramePr>
          <p:nvPr/>
        </p:nvGraphicFramePr>
        <p:xfrm>
          <a:off x="6812280" y="4315968"/>
          <a:ext cx="5010912" cy="1024128"/>
        </p:xfrm>
        <a:graphic>
          <a:graphicData uri="http://schemas.openxmlformats.org/drawingml/2006/table">
            <a:tbl>
              <a:tblPr firstRow="1" bandRow="1"/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Today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ClauseLink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Saved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Base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256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30.5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225.5 h (88.1%)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Pessimistic ClauseLink side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256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64.5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191.5 h (74.8%)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Pessimistic on both sides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113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64.5 h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07A00"/>
                          </a:solidFill>
                          <a:latin typeface="Calibri"/>
                          <a:cs typeface="Calibri"/>
                        </a:rPr>
                        <a:t>48.5 h (42.9%)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" name="Impact notes"/>
          <p:cNvSpPr txBox="1"/>
          <p:nvPr/>
        </p:nvSpPr>
        <p:spPr>
          <a:xfrm>
            <a:off x="6812280" y="5449824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4A5A6A"/>
                </a:solidFill>
                <a:latin typeface="Calibri"/>
                <a:cs typeface="Calibri"/>
              </a:rPr>
              <a:t>Every label is assumed to carry all 20 languages: 600 language blocks. Effort only. Elapsed time depends on approval queues and is not claimed; error rates and real timings come from a pilot audit trail.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822960"/>
            <a:ext cx="11457432" cy="457200"/>
          </a:xfrm>
        </p:spPr>
        <p:txBody>
          <a:bodyPr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0077B6"/>
                </a:solidFill>
                <a:latin typeface="Calibri"/>
                <a:cs typeface="Calibri"/>
              </a:rPr>
              <a:t>Annexure C</a:t>
            </a:r>
            <a:r>
              <a:rPr lang="en-US" sz="1600" b="0" i="0" dirty="0">
                <a:solidFill>
                  <a:srgbClr val="0B2545"/>
                </a:solidFill>
                <a:latin typeface="Calibri"/>
                <a:cs typeface="Calibri"/>
              </a:rPr>
              <a:t>: Supporting detail, prototype on synthetic data</a:t>
            </a:r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101" name="Graph caption"/>
          <p:cNvSpPr txBox="1"/>
          <p:nvPr/>
        </p:nvSpPr>
        <p:spPr>
          <a:xfrm>
            <a:off x="365760" y="1371600"/>
            <a:ext cx="6629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0077B6"/>
                </a:solidFill>
                <a:latin typeface="Calibri"/>
                <a:cs typeface="Calibri"/>
              </a:rPr>
              <a:t>Scenario 1: ISO 15223-1 Amd 1 changes the EC REP symbol; one graph query finds the 4 affected labels</a:t>
            </a:r>
          </a:p>
        </p:txBody>
      </p:sp>
      <p:pic>
        <p:nvPicPr>
          <p:cNvPr id="102" name="Graph impact view (synthetic)" descr="Graph impact view (synthetic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1640"/>
            <a:ext cx="6629400" cy="3273266"/>
          </a:xfrm>
          <a:prstGeom prst="rect">
            <a:avLst/>
          </a:prstGeom>
          <a:ln w="6350">
            <a:solidFill>
              <a:srgbClr val="C9D6E2"/>
            </a:solidFill>
          </a:ln>
        </p:spPr>
      </p:pic>
      <p:sp>
        <p:nvSpPr>
          <p:cNvPr id="103" name="Findings header"/>
          <p:cNvSpPr txBox="1"/>
          <p:nvPr/>
        </p:nvSpPr>
        <p:spPr>
          <a:xfrm>
            <a:off x="7223760" y="1371600"/>
            <a:ext cx="45994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0077B6"/>
                </a:solidFill>
                <a:latin typeface="Calibri"/>
                <a:cs typeface="Calibri"/>
              </a:rPr>
              <a:t>Scenario 3: seeded-defect proofs</a:t>
            </a:r>
          </a:p>
        </p:txBody>
      </p:sp>
      <p:graphicFrame>
        <p:nvGraphicFramePr>
          <p:cNvPr id="104" name="Findings"/>
          <p:cNvGraphicFramePr>
            <a:graphicFrameLocks noGrp="1"/>
          </p:cNvGraphicFramePr>
          <p:nvPr/>
        </p:nvGraphicFramePr>
        <p:xfrm>
          <a:off x="7223760" y="1691640"/>
          <a:ext cx="4599432" cy="2414016"/>
        </p:xfrm>
        <a:graphic>
          <a:graphicData uri="http://schemas.openxmlformats.org/drawingml/2006/table">
            <a:tbl>
              <a:tblPr firstRow="1" bandRow="1"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Proof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Seeded defect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Clause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(a) US-box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Lot in the human-readable UDI (2410B) differs from the DataMatrix (2410A)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C62828"/>
                          </a:solidFill>
                          <a:latin typeface="Calibri"/>
                          <a:cs typeface="Calibri"/>
                        </a:rPr>
                        <a:t>Printed UDI differs from DataMatrix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21 CFR 801.40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(b) US-unit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'Rx only' missing on the US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C62828"/>
                          </a:solidFill>
                          <a:latin typeface="Calibri"/>
                          <a:cs typeface="Calibri"/>
                        </a:rPr>
                        <a:t>Required element missing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21 CFR 801.109(b)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(c) DE-unit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Old EC REP placeholder (pre-Amd 1) still used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C62828"/>
                          </a:solidFill>
                          <a:latin typeface="Calibri"/>
                          <a:cs typeface="Calibri"/>
                        </a:rPr>
                        <a:t>Symbol edition outdated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MDR Annex I 23.1(h), 23.2(d)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(d) FR-box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MD symbol (and its caption) missing on an EU label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C62828"/>
                          </a:solidFill>
                          <a:latin typeface="Calibri"/>
                          <a:cs typeface="Calibri"/>
                        </a:rPr>
                        <a:t>Required element missing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i="0" dirty="0">
                          <a:solidFill>
                            <a:srgbClr val="0B2545"/>
                          </a:solidFill>
                          <a:latin typeface="Calibri"/>
                          <a:cs typeface="Calibri"/>
                        </a:rPr>
                        <a:t>MDR Annex I 23.2(q)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C9D6E2"/>
                      </a:solidFill>
                    </a:lnL>
                    <a:lnR w="6350">
                      <a:solidFill>
                        <a:srgbClr val="C9D6E2"/>
                      </a:solidFill>
                    </a:lnR>
                    <a:lnT w="6350">
                      <a:solidFill>
                        <a:srgbClr val="C9D6E2"/>
                      </a:solidFill>
                    </a:lnT>
                    <a:lnB w="6350">
                      <a:solidFill>
                        <a:srgbClr val="C9D6E2"/>
                      </a:solidFill>
                    </a:lnB>
                    <a:solidFill>
                      <a:srgbClr val="F1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5" name="Findings summary"/>
          <p:cNvSpPr txBox="1"/>
          <p:nvPr/>
        </p:nvSpPr>
        <p:spPr>
          <a:xfrm>
            <a:off x="7223760" y="4215384"/>
            <a:ext cx="459943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4/4 seeded defects caught. 0 false defect flags across 10 proofs (4 seeded, 6 clean controls). 3 uncertain OCR reads were routed to a human: twice the small "SYN" tag on a placeholder symbol, once an address read just under the 0.80 confidence threshold.</a:t>
            </a:r>
          </a:p>
          <a:p>
            <a:pPr marL="0" indent="0" algn="l">
              <a:buNone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Scenario 2 (pack quantity 10 to 5): 3 box labels affected; new UDI-DI flagged for DE and FR under MDR Annex VI 3.9(f); US routed to RA, with a GUDID task under 21 CFR 830.310(b)(14).</a:t>
            </a:r>
          </a:p>
        </p:txBody>
      </p:sp>
      <p:sp>
        <p:nvSpPr>
          <p:cNvPr id="106" name="Limits"/>
          <p:cNvSpPr txBox="1"/>
          <p:nvPr/>
        </p:nvSpPr>
        <p:spPr>
          <a:xfrm>
            <a:off x="365760" y="5449824"/>
            <a:ext cx="11457432" cy="987552"/>
          </a:xfrm>
          <a:prstGeom prst="roundRect">
            <a:avLst>
              <a:gd name="adj" fmla="val 6000"/>
            </a:avLst>
          </a:prstGeom>
          <a:solidFill>
            <a:srgbClr val="F1F7FB"/>
          </a:solidFill>
          <a:ln>
            <a:noFill/>
          </a:ln>
        </p:spPr>
        <p:txBody>
          <a:bodyPr wrap="square" lIns="137160" tIns="54864" rIns="137160" bIns="36576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i="0" dirty="0">
                <a:solidFill>
                  <a:srgbClr val="0077B6"/>
                </a:solidFill>
                <a:latin typeface="Calibri"/>
                <a:cs typeface="Calibri"/>
              </a:rPr>
              <a:t>Limits of this test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Symbol templates are drawn by the same code that renders the labels, so matching is easier than on real artwork.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No rotation, no real ISO artwork, no print-quality grading. Proofs are blurred, noised and JPEG-compressed only.</a:t>
            </a:r>
          </a:p>
          <a:p>
            <a:pPr marL="128016" indent="-128016" algn="l">
              <a:buFont typeface="Arial"/>
              <a:buChar char="•"/>
            </a:pPr>
            <a:r>
              <a:rPr lang="en-US" sz="1000" b="0" i="0" dirty="0">
                <a:solidFill>
                  <a:srgbClr val="0B2545"/>
                </a:solidFill>
                <a:latin typeface="Calibri"/>
                <a:cs typeface="Calibri"/>
              </a:rPr>
              <a:t>All data are synthetic: fictional device, company and GTINs, placeholder symbols, simulated approvals. n = 4 seeded defects is a smoke test, not a validation result.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1739</Words>
  <Application>Microsoft Office PowerPoint</Application>
  <PresentationFormat>Widescreen</PresentationFormat>
  <Paragraphs>395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Custom Design</vt:lpstr>
      <vt:lpstr>Team Details</vt:lpstr>
      <vt:lpstr>ClauseLink: every label element traced to the clause that requires it</vt:lpstr>
      <vt:lpstr>Annexure A: Supporting detail, process map today and with ClauseLink</vt:lpstr>
      <vt:lpstr>Annexure B: Supporting detail, automation opportunity matrix and impact model</vt:lpstr>
      <vt:lpstr>Annexure C: Supporting detail, prototype on synthetic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BICHU DEVNARAYAN</cp:lastModifiedBy>
  <cp:revision>8</cp:revision>
  <dcterms:created xsi:type="dcterms:W3CDTF">2024-10-25T17:59:13Z</dcterms:created>
  <dcterms:modified xsi:type="dcterms:W3CDTF">2026-10-19T13:24:03Z</dcterms:modified>
</cp:coreProperties>
</file>